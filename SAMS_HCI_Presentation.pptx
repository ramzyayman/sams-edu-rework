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3291840" cy="1005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ms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822960"/>
            <a:ext cx="3108960" cy="9372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2011680"/>
            <a:ext cx="3840480" cy="411480"/>
          </a:xfrm>
          <a:prstGeom prst="roundRect">
            <a:avLst/>
          </a:prstGeom>
          <a:solidFill>
            <a:srgbClr val="0D4B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EF08A"/>
                </a:solidFill>
              </a:defRPr>
            </a:pPr>
            <a:r>
              <a:t>ACADEMIC USABILITY &amp; INTERFACE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60320"/>
            <a:ext cx="106984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Sadat Academy for Management Sciences (SAMS)</a:t>
            </a:r>
          </a:p>
          <a:p>
            <a:pPr>
              <a:defRPr sz="2400" b="1">
                <a:solidFill>
                  <a:srgbClr val="D97706"/>
                </a:solidFill>
              </a:defRPr>
            </a:pPr>
            <a:r>
              <a:t>Homepage Usability Evaluation &amp; Interactive Figma Redesign</a:t>
            </a:r>
          </a:p>
          <a:p>
            <a:pPr>
              <a:spcBef>
                <a:spcPts val="1400"/>
              </a:spcBef>
              <a:defRPr sz="1500">
                <a:solidFill>
                  <a:srgbClr val="CBD5E1"/>
                </a:solidFill>
              </a:defRPr>
            </a:pPr>
            <a:r>
              <a:t>Analyzing cognitive load, affordance failures, and heuristic violations to create a modern, task-centered digital experience.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Course: Human-Computer Interaction &amp; UI/UX Design  •  Target: http://sams.edu.eg/en/  •  Deliverable: Figma Prototype &amp; HCI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HUMAN-COMPUTER INTERACTION (HCI)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3454"/>
                </a:solidFill>
              </a:defRPr>
            </a:pPr>
            <a:r>
              <a:t>Target Audience &amp; Core User Personas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3454"/>
                </a:solidFill>
              </a:defRPr>
            </a:pPr>
            <a:r>
              <a:t>🎓 Prospective Students</a:t>
            </a:r>
          </a:p>
          <a:p>
            <a:pPr>
              <a:spcBef>
                <a:spcPts val="1000"/>
              </a:spcBef>
              <a:defRPr sz="1300">
                <a:solidFill>
                  <a:srgbClr val="475569"/>
                </a:solidFill>
              </a:defRPr>
            </a:pPr>
            <a:r>
              <a:t>High school graduates &amp; postgraduate applicants seeking degree catalogs, requirements, tuition fees, and admission deadlines.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Priority 1: Find major study plans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Priority 2: Clear 'Apply Now' pathway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Pain Point: Buried admission links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3454"/>
                </a:solidFill>
              </a:defRPr>
            </a:pPr>
            <a:r>
              <a:t>📚 Current Enrolled Students</a:t>
            </a:r>
          </a:p>
          <a:p>
            <a:pPr>
              <a:spcBef>
                <a:spcPts val="1000"/>
              </a:spcBef>
              <a:defRPr sz="1300">
                <a:solidFill>
                  <a:srgbClr val="475569"/>
                </a:solidFill>
              </a:defRPr>
            </a:pPr>
            <a:r>
              <a:t>Over 15,000 students enrolled across Cairo, Alexandria, Tanta, Mansoura, Minia, and Port Said campuses.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Priority 1: Check semester exam grades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Priority 2: Class schedules &amp; academic advising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Pain Point: Student portal hidden midway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645920"/>
            <a:ext cx="342900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1828800"/>
            <a:ext cx="3063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3454"/>
                </a:solidFill>
              </a:defRPr>
            </a:pPr>
            <a:r>
              <a:t>🏢 Executive &amp; Faculty</a:t>
            </a:r>
          </a:p>
          <a:p>
            <a:pPr>
              <a:spcBef>
                <a:spcPts val="1000"/>
              </a:spcBef>
              <a:defRPr sz="1300">
                <a:solidFill>
                  <a:srgbClr val="475569"/>
                </a:solidFill>
              </a:defRPr>
            </a:pPr>
            <a:r>
              <a:t>Corporate professionals, researchers, and academic faculty seeking training programs and LMS portals.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Priority 1: Management consulting &amp; diplomas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Priority 2: Staff LMS &amp; academic journals</a:t>
            </a:r>
          </a:p>
          <a:p>
            <a:pPr>
              <a:spcBef>
                <a:spcPts val="800"/>
              </a:spcBef>
              <a:defRPr sz="1200">
                <a:solidFill>
                  <a:srgbClr val="0F172A"/>
                </a:solidFill>
              </a:defRPr>
            </a:pPr>
            <a:r>
              <a:t>• Pain Point: Lack of institutional hierarchy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HUMAN-COMPUTER INTERACTION (HCI)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3454"/>
                </a:solidFill>
              </a:defRPr>
            </a:pPr>
            <a:r>
              <a:t>Original Interface Audit: Identified Flaws</a:t>
            </a:r>
          </a:p>
        </p:txBody>
      </p:sp>
      <p:pic>
        <p:nvPicPr>
          <p:cNvPr id="5" name="Picture 4" descr="sams_orig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114800" cy="4572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120640" y="1645920"/>
            <a:ext cx="63093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4960" y="1828800"/>
            <a:ext cx="5760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3454"/>
                </a:solidFill>
              </a:defRPr>
            </a:pPr>
            <a:r>
              <a:t>Key Usability Bottlenecks on Current Page</a:t>
            </a:r>
          </a:p>
          <a:p>
            <a:pPr>
              <a:spcBef>
                <a:spcPts val="1000"/>
              </a:spcBef>
              <a:defRPr sz="1400" b="1">
                <a:solidFill>
                  <a:srgbClr val="D97706"/>
                </a:solidFill>
              </a:defRPr>
            </a:pPr>
            <a:r>
              <a:t>1. Passive Hero Slider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Massive building photo carousel with zero text, zero headline, and no interactive CTAs.</a:t>
            </a:r>
          </a:p>
          <a:p>
            <a:pPr>
              <a:spcBef>
                <a:spcPts val="1000"/>
              </a:spcBef>
              <a:defRPr sz="1400" b="1">
                <a:solidFill>
                  <a:srgbClr val="D97706"/>
                </a:solidFill>
              </a:defRPr>
            </a:pPr>
            <a:r>
              <a:t>2. Illogical Card Grouping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Academic programs are mixed with static History &amp; Mission, all using identical 'READ MORE' buttons.</a:t>
            </a:r>
          </a:p>
          <a:p>
            <a:pPr>
              <a:spcBef>
                <a:spcPts val="1000"/>
              </a:spcBef>
              <a:defRPr sz="1400" b="1">
                <a:solidFill>
                  <a:srgbClr val="D97706"/>
                </a:solidFill>
              </a:defRPr>
            </a:pPr>
            <a:r>
              <a:t>3. Misplaced Utility Controls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Student Login, Register, and Language flags are buried in the middle of the page below the fold.</a:t>
            </a:r>
          </a:p>
          <a:p>
            <a:pPr>
              <a:spcBef>
                <a:spcPts val="1000"/>
              </a:spcBef>
              <a:defRPr sz="1400" b="1">
                <a:solidFill>
                  <a:srgbClr val="D97706"/>
                </a:solidFill>
              </a:defRPr>
            </a:pPr>
            <a:r>
              <a:t>4. Low-Utility Diagnostic Widgets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'Who's Online' counter (127 guests) and duplicated menu clutter the left sidebar.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HUMAN-COMPUTER INTERACTION (HCI)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3454"/>
                </a:solidFill>
              </a:defRPr>
            </a:pPr>
            <a:r>
              <a:t>HCI Theoretical Grounding of the Usability Flaws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3454"/>
                </a:solidFill>
              </a:defRPr>
            </a:pPr>
            <a:r>
              <a:t>Norman's Affordances &amp; Fitts's Law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The passive hero section provides no signifiers for interaction, leaving users in a wide 'Gulf of Execution'. Fitts's Law ($T = a + b \log_2(2D/W)$) is violated as prime above-the-fold screen space has zero clickable targets.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783080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3454"/>
                </a:solidFill>
              </a:defRPr>
            </a:pPr>
            <a:r>
              <a:t>Gestalt Similarity &amp; Information Scent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Because History, Mission, and Undergraduate Programs share identical visual weight and low-contrast 'READ MORE' pills, the system fails Gestalt similarity and forces users to guess link destinations.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77639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14799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3454"/>
                </a:solidFill>
              </a:defRPr>
            </a:pPr>
            <a:r>
              <a:t>Nielsen #4: Consistency &amp; Standards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Violates Jakob's Law of Internet UX. Users expect authentication and locale toggles in the top-right header. Placing them midway down breaks existing user mental models.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977639"/>
            <a:ext cx="525780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114799"/>
            <a:ext cx="48920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63454"/>
                </a:solidFill>
              </a:defRPr>
            </a:pPr>
            <a:r>
              <a:t>Nielsen #8: Minimalist Design &amp; Cognitive Load</a:t>
            </a:r>
          </a:p>
          <a:p>
            <a:pPr>
              <a:spcBef>
                <a:spcPts val="600"/>
              </a:spcBef>
              <a:defRPr sz="1200">
                <a:solidFill>
                  <a:srgbClr val="475569"/>
                </a:solidFill>
              </a:defRPr>
            </a:pPr>
            <a:r>
              <a:t>Visitor counters ('Who's Online') and sitemap repetition represent extraneous cognitive load (Sweller), competing with relevant academic announcements for working memory.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HUMAN-COMPUTER INTERACTION (HCI)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3454"/>
                </a:solidFill>
              </a:defRPr>
            </a:pPr>
            <a:r>
              <a:t>Information Architecture Transformation: Before vs. After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57800" cy="4572000"/>
          </a:xfrm>
          <a:prstGeom prst="roundRect">
            <a:avLst/>
          </a:prstGeom>
          <a:solidFill>
            <a:srgbClr val="FEF2F2"/>
          </a:solidFill>
          <a:ln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B91C1C"/>
                </a:solidFill>
              </a:defRPr>
            </a:pPr>
            <a:r>
              <a:t>BEFORE: Fragmented Legacy Layout</a:t>
            </a:r>
          </a:p>
          <a:p>
            <a:pPr>
              <a:spcBef>
                <a:spcPts val="1000"/>
              </a:spcBef>
              <a:defRPr sz="1250">
                <a:solidFill>
                  <a:srgbClr val="7F1D1D"/>
                </a:solidFill>
              </a:defRPr>
            </a:pPr>
            <a:r>
              <a:t>• Unorganized top nav with nested menus &amp; pseudo-links</a:t>
            </a:r>
          </a:p>
          <a:p>
            <a:pPr>
              <a:spcBef>
                <a:spcPts val="1000"/>
              </a:spcBef>
              <a:defRPr sz="1250">
                <a:solidFill>
                  <a:srgbClr val="7F1D1D"/>
                </a:solidFill>
              </a:defRPr>
            </a:pPr>
            <a:r>
              <a:t>• Passive hero photo slider (no CTAs or value proposition)</a:t>
            </a:r>
          </a:p>
          <a:p>
            <a:pPr>
              <a:spcBef>
                <a:spcPts val="1000"/>
              </a:spcBef>
              <a:defRPr sz="1250">
                <a:solidFill>
                  <a:srgbClr val="7F1D1D"/>
                </a:solidFill>
              </a:defRPr>
            </a:pPr>
            <a:r>
              <a:t>• 4 identical cards mixing degrees with institutional history</a:t>
            </a:r>
          </a:p>
          <a:p>
            <a:pPr>
              <a:spcBef>
                <a:spcPts val="1000"/>
              </a:spcBef>
              <a:defRPr sz="1250">
                <a:solidFill>
                  <a:srgbClr val="7F1D1D"/>
                </a:solidFill>
              </a:defRPr>
            </a:pPr>
            <a:r>
              <a:t>• Mid-page secondary bar with login &amp; UK/Saudi flags</a:t>
            </a:r>
          </a:p>
          <a:p>
            <a:pPr>
              <a:spcBef>
                <a:spcPts val="1000"/>
              </a:spcBef>
              <a:defRPr sz="1250">
                <a:solidFill>
                  <a:srgbClr val="7F1D1D"/>
                </a:solidFill>
              </a:defRPr>
            </a:pPr>
            <a:r>
              <a:t>• Left sidebar: 'Who's Online' counter &amp; duplicated menu tree</a:t>
            </a:r>
          </a:p>
          <a:p>
            <a:pPr>
              <a:spcBef>
                <a:spcPts val="1000"/>
              </a:spcBef>
              <a:defRPr sz="1250">
                <a:solidFill>
                  <a:srgbClr val="7F1D1D"/>
                </a:solidFill>
              </a:defRPr>
            </a:pPr>
            <a:r>
              <a:t>• Right column: Raw chronological blog feed with dated articles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57800" cy="4572000"/>
          </a:xfrm>
          <a:prstGeom prst="roundRect">
            <a:avLst/>
          </a:prstGeom>
          <a:solidFill>
            <a:srgbClr val="F0FDF4"/>
          </a:solidFill>
          <a:ln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82880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5803D"/>
                </a:solidFill>
              </a:defRPr>
            </a:pPr>
            <a:r>
              <a:t>AFTER: User-Centered Hierarchical Flow</a:t>
            </a:r>
          </a:p>
          <a:p>
            <a:pPr>
              <a:spcBef>
                <a:spcPts val="1000"/>
              </a:spcBef>
              <a:defRPr sz="1250">
                <a:solidFill>
                  <a:srgbClr val="14532D"/>
                </a:solidFill>
              </a:defRPr>
            </a:pPr>
            <a:r>
              <a:t>• Tier 1: Top Utility Bar (Student Portal, Staff LMS, Search, عربي)</a:t>
            </a:r>
          </a:p>
          <a:p>
            <a:pPr>
              <a:spcBef>
                <a:spcPts val="1000"/>
              </a:spcBef>
              <a:defRPr sz="1250">
                <a:solidFill>
                  <a:srgbClr val="14532D"/>
                </a:solidFill>
              </a:defRPr>
            </a:pPr>
            <a:r>
              <a:t>• Tier 2: Sticky Header (SAMS Official Crest, Nav, 'Apply Now' CTA)</a:t>
            </a:r>
          </a:p>
          <a:p>
            <a:pPr>
              <a:spcBef>
                <a:spcPts val="1000"/>
              </a:spcBef>
              <a:defRPr sz="1250">
                <a:solidFill>
                  <a:srgbClr val="14532D"/>
                </a:solidFill>
              </a:defRPr>
            </a:pPr>
            <a:r>
              <a:t>• Tier 3: Actionable Hero (Value proposition headline, Dual CTAs)</a:t>
            </a:r>
          </a:p>
          <a:p>
            <a:pPr>
              <a:spcBef>
                <a:spcPts val="1000"/>
              </a:spcBef>
              <a:defRPr sz="1250">
                <a:solidFill>
                  <a:srgbClr val="14532D"/>
                </a:solidFill>
              </a:defRPr>
            </a:pPr>
            <a:r>
              <a:t>• Tier 4: Persona Cards (Prospective, Current, Postgrad, Executive)</a:t>
            </a:r>
          </a:p>
          <a:p>
            <a:pPr>
              <a:spcBef>
                <a:spcPts val="1000"/>
              </a:spcBef>
              <a:defRPr sz="1250">
                <a:solidFill>
                  <a:srgbClr val="14532D"/>
                </a:solidFill>
              </a:defRPr>
            </a:pPr>
            <a:r>
              <a:t>• Tier 5: Interactive Faculty Tabs (Progressive disclosure for tracks)</a:t>
            </a:r>
          </a:p>
          <a:p>
            <a:pPr>
              <a:spcBef>
                <a:spcPts val="1000"/>
              </a:spcBef>
              <a:defRPr sz="1250">
                <a:solidFill>
                  <a:srgbClr val="14532D"/>
                </a:solidFill>
              </a:defRPr>
            </a:pPr>
            <a:r>
              <a:t>• Tier 6: Curated News &amp; Events Grid (Date badges, real SAMS photos)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HUMAN-COMPUTER INTERACTION (HCI)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3454"/>
                </a:solidFill>
              </a:defRPr>
            </a:pPr>
            <a:r>
              <a:t>The Redesigned SAMS Homepage</a:t>
            </a:r>
          </a:p>
        </p:txBody>
      </p:sp>
      <p:pic>
        <p:nvPicPr>
          <p:cNvPr id="5" name="Picture 4" descr="redesign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108960" cy="46634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114800" y="1645920"/>
            <a:ext cx="731520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67665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63454"/>
                </a:solidFill>
              </a:defRPr>
            </a:pPr>
            <a:r>
              <a:t>Key UI/UX Design System Improvements</a:t>
            </a:r>
          </a:p>
          <a:p>
            <a:pPr>
              <a:spcBef>
                <a:spcPts val="800"/>
              </a:spcBef>
              <a:defRPr sz="1300" b="1">
                <a:solidFill>
                  <a:srgbClr val="063454"/>
                </a:solidFill>
              </a:defRPr>
            </a:pPr>
            <a:r>
              <a:t>• Official Institutional Branding: </a:t>
            </a:r>
            <a:r>
              <a:rPr b="0">
                <a:solidFill>
                  <a:srgbClr val="475569"/>
                </a:solidFill>
              </a:rPr>
              <a:t>Integrated the authentic SAMS emblem and bilingual crest into header and footer.</a:t>
            </a:r>
          </a:p>
          <a:p>
            <a:pPr>
              <a:spcBef>
                <a:spcPts val="800"/>
              </a:spcBef>
              <a:defRPr sz="1300" b="1">
                <a:solidFill>
                  <a:srgbClr val="063454"/>
                </a:solidFill>
              </a:defRPr>
            </a:pPr>
            <a:r>
              <a:t>• High-Contrast Actionable CTAs: </a:t>
            </a:r>
            <a:r>
              <a:rPr b="0">
                <a:solidFill>
                  <a:srgbClr val="475569"/>
                </a:solidFill>
              </a:rPr>
              <a:t>Golden-amber primary button ('Apply for 2026/2027') stands out against the navy palette.</a:t>
            </a:r>
          </a:p>
          <a:p>
            <a:pPr>
              <a:spcBef>
                <a:spcPts val="800"/>
              </a:spcBef>
              <a:defRPr sz="1300" b="1">
                <a:solidFill>
                  <a:srgbClr val="063454"/>
                </a:solidFill>
              </a:defRPr>
            </a:pPr>
            <a:r>
              <a:t>• Cognitive Chunking via Personas: </a:t>
            </a:r>
            <a:r>
              <a:rPr b="0">
                <a:solidFill>
                  <a:srgbClr val="475569"/>
                </a:solidFill>
              </a:rPr>
              <a:t>Elevated 4 audience cards that immediately direct users based on their primary intent.</a:t>
            </a:r>
          </a:p>
          <a:p>
            <a:pPr>
              <a:spcBef>
                <a:spcPts val="800"/>
              </a:spcBef>
              <a:defRPr sz="1300" b="1">
                <a:solidFill>
                  <a:srgbClr val="063454"/>
                </a:solidFill>
              </a:defRPr>
            </a:pPr>
            <a:r>
              <a:t>• Progressive Disclosure Tab System: </a:t>
            </a:r>
            <a:r>
              <a:rPr b="0">
                <a:solidFill>
                  <a:srgbClr val="475569"/>
                </a:solidFill>
              </a:rPr>
              <a:t>Tabs allow instant switching between Management, Computing, and Languages without reloading.</a:t>
            </a:r>
          </a:p>
          <a:p>
            <a:pPr>
              <a:spcBef>
                <a:spcPts val="800"/>
              </a:spcBef>
              <a:defRPr sz="1300" b="1">
                <a:solidFill>
                  <a:srgbClr val="063454"/>
                </a:solidFill>
              </a:defRPr>
            </a:pPr>
            <a:r>
              <a:t>• Modern Gestalt News Grid: </a:t>
            </a:r>
            <a:r>
              <a:rPr b="0">
                <a:solidFill>
                  <a:srgbClr val="475569"/>
                </a:solidFill>
              </a:rPr>
              <a:t>Organized campus announcements with high-resolution imagery, dates, and category pills.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HUMAN-COMPUTER INTERACTION (HCI)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3454"/>
                </a:solidFill>
              </a:defRPr>
            </a:pPr>
            <a:r>
              <a:t>Figma Interactive Prototype Walkthrough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3454"/>
                </a:solidFill>
              </a:defRPr>
            </a:pPr>
            <a:r>
              <a:t>Interaction 1: Faculty Tab Switching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Clicking between 'Faculty of Management Sciences' and 'Computing &amp; Information' triggers an instant state transition displaying study tracks and lab partnerships using Smart Animate.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54680"/>
            <a:ext cx="10698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9184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3454"/>
                </a:solidFill>
              </a:defRPr>
            </a:pPr>
            <a:r>
              <a:t>Interaction 2: Global Search Modal Overlay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Clicking the 🔍 search icon opens a centered modal with trending search shortcuts (e.g., BIS study plan, Student exam grades), supporting recognition over recall.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663440"/>
            <a:ext cx="106984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800600"/>
            <a:ext cx="10149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3454"/>
                </a:solidFill>
              </a:defRPr>
            </a:pPr>
            <a:r>
              <a:t>Interaction 3: Micro-Interactions &amp; Hover Signifiers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All buttons and persona cards feature subtle elevation shifts (Y: -4px) and shadow transitions to reinforce clickability and affordance feedback.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77840"/>
            <a:ext cx="10698480" cy="64008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63454"/>
                </a:solidFill>
              </a:defRPr>
            </a:pPr>
            <a:r>
              <a:t>👉 Live Prototype Verification: Tested locally via index.html and imported into Figma components.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HUMAN-COMPUTER INTERACTION (HCI)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63454"/>
                </a:solidFill>
              </a:defRPr>
            </a:pPr>
            <a:r>
              <a:t>Usability Evaluation Matrix: Before vs. After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3108960"/>
                <a:gridCol w="2651760"/>
              </a:tblGrid>
              <a:tr h="653142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Criterion</a:t>
                      </a:r>
                    </a:p>
                  </a:txBody>
                  <a:tcPr>
                    <a:solidFill>
                      <a:srgbClr val="0634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Original Homepage (Before)</a:t>
                      </a:r>
                    </a:p>
                  </a:txBody>
                  <a:tcPr>
                    <a:solidFill>
                      <a:srgbClr val="0634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Redesigned Homepage (After)</a:t>
                      </a:r>
                    </a:p>
                  </a:txBody>
                  <a:tcPr>
                    <a:solidFill>
                      <a:srgbClr val="06345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HCI Concept Grounding</a:t>
                      </a:r>
                    </a:p>
                  </a:txBody>
                  <a:tcPr>
                    <a:solidFill>
                      <a:srgbClr val="063454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Primary CTA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Missing. Only passive photo slider.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High-contrast 'Apply Now' CTA button.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97706"/>
                          </a:solidFill>
                        </a:defRPr>
                      </a:pPr>
                      <a:r>
                        <a:t>Norman's Signifiers &amp; Fitts's Law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Auth &amp; Language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Buried midway down the page.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Consolidated in top-right utility bar.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97706"/>
                          </a:solidFill>
                        </a:defRPr>
                      </a:pPr>
                      <a:r>
                        <a:t>Jakob's Law &amp; Nielsen Heuristic #4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Architecture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Degrees mixed with static history text.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Persona routing cards + faculty tabs.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97706"/>
                          </a:solidFill>
                        </a:defRPr>
                      </a:pPr>
                      <a:r>
                        <a:t>Gestalt Proximity &amp; Miller's Law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Button Labels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Generic 'READ MORE' pills.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Descriptive task labels with arrows.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97706"/>
                          </a:solidFill>
                        </a:defRPr>
                      </a:pPr>
                      <a:r>
                        <a:t>Information Scent &amp; Heuristic #6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Visual Clutter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'Who's Online' &amp; duplicated menu.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Eliminated. Clean 3-card news grid.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97706"/>
                          </a:solidFill>
                        </a:defRPr>
                      </a:pPr>
                      <a:r>
                        <a:t>Nielsen Heuristic #8 (Minimalism)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Search Usability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Tiny input in bottom sidebar.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Prominent modal search with auto-suggest.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D97706"/>
                          </a:solidFill>
                        </a:defRPr>
                      </a:pPr>
                      <a:r>
                        <a:t>Error Prevention &amp; Heuristic #7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